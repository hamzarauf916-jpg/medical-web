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02920" cy="50292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48640"/>
            <a:ext cx="502920" cy="50292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920240"/>
            <a:ext cx="502920" cy="50292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1920240"/>
            <a:ext cx="502920" cy="50292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7" name="Image 0" descr="icons/heartbe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9509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 •  OpenAI  •  Streamlit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0273F"/>
            </a:solidFill>
            <a:prstDash val="solid"/>
          </a:ln>
        </p:spPr>
      </p:sp>
      <p:pic>
        <p:nvPicPr>
          <p:cNvPr id="13" name="Image 1" descr="icons/heartbea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172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6144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prototype — not a substitute for professional medical advice.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search random websites when symptoms appear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60320"/>
            <a:ext cx="685800" cy="68580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6" name="Image 0" descr="icon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249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 information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results mix credible medical sources with speculation and outdated advice.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1945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560320"/>
            <a:ext cx="685800" cy="68580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11" name="Image 1" descr="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7249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anxiety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2628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Vague, worst-case-scenario content leaves patients more worried than informed.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1945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560320"/>
            <a:ext cx="685800" cy="68580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16" name="Image 2" descr="icons/comme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7249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next step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13816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left unsure whether it's urgent, or who to talk to about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healthcare-technology startup wants a responsible AI prototype that turns scattered symptoms into structured, safety-first guidance.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 in, structured guidance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6" name="Image 0" descr="icons/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intake 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92608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symptoms, duration, severity, conditions &amp; medications — all validated before submission.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222199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1" name="Image 1" descr="icons/brai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3591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1671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LLM-powered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92608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OpenAI (gpt-4o-mini) interpret the intake and reason about likely explanations.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6176" y="222199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6" name="Image 2" descr="icons/filea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3591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1671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structured JSON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66176" y="292608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possible conditions, urgency, next steps, doctor questions &amp; warning signs — every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6177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87375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1" name="Image 3" descr="icons/heartbea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0109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188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Urgency-coded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57784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LOW / MEDIUM / HIGH / EMERGENCY banners drive the right next action.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6177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87375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6" name="Image 4" descr="icons/bo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501091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8188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streaming narrative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557784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friendly, human-readable explanation streams in real time via .stream().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6177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266176" y="4873752"/>
            <a:ext cx="566928" cy="5669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31" name="Image 5" descr="icons/shiel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501091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48188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Safety-first by design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66176" y="5577840"/>
            <a:ext cx="29169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confirmed diagnosis; disclaimers on every screen; emergencies flagged clearly.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proven, lightweight LLM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6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677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84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9202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14884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1" name="Image 1" descr="icons/lay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2677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084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framework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239512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(langchain, langchain-openai,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langchain-community, langchain-core)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9202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38744" y="214884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6" name="Image 2" descr="icons/robo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2677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2084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924544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gpt-4o-mini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1" name="Image 3" descr="icons/clipboar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507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554480" y="4206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70332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393192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6" name="Image 4" descr="icons/ke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5079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239512" y="4206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(.env) + user-supplied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on login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70332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38744" y="393192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31" name="Image 5" descr="icons/databas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05079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F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924544" y="4206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+ SQLiteCache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input to streamed guidance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2124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10273F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5" name="Image 0" descr="icons/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80720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17420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8" name="Shape 5"/>
          <p:cNvSpPr/>
          <p:nvPr/>
        </p:nvSpPr>
        <p:spPr>
          <a:xfrm>
            <a:off x="2491740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2DD4C4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9" name="Image 1" descr="icons/filea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807208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08860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17036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12" name="Shape 8"/>
          <p:cNvSpPr/>
          <p:nvPr/>
        </p:nvSpPr>
        <p:spPr>
          <a:xfrm>
            <a:off x="3991356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10273F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13" name="Image 2" descr="icons/databas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2807208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08476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16652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16" name="Shape 11"/>
          <p:cNvSpPr/>
          <p:nvPr/>
        </p:nvSpPr>
        <p:spPr>
          <a:xfrm>
            <a:off x="5490972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2DD4C4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17" name="Image 3" descr="icons/robo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807208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8092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 call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716268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20" name="Shape 14"/>
          <p:cNvSpPr/>
          <p:nvPr/>
        </p:nvSpPr>
        <p:spPr>
          <a:xfrm>
            <a:off x="6990588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10273F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21" name="Image 4" descr="icons/cod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2807208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07708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8215884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24" name="Shape 17"/>
          <p:cNvSpPr/>
          <p:nvPr/>
        </p:nvSpPr>
        <p:spPr>
          <a:xfrm>
            <a:off x="8490204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2DD4C4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25" name="Image 5" descr="icons/bol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964" y="2807208"/>
            <a:ext cx="475488" cy="4754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07324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narrative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9715500" y="3191256"/>
            <a:ext cx="256032" cy="201168"/>
          </a:xfrm>
          <a:prstGeom prst="rightArrow">
            <a:avLst/>
          </a:prstGeom>
          <a:solidFill>
            <a:srgbClr val="C7D6D3"/>
          </a:solidFill>
          <a:ln/>
        </p:spPr>
      </p:sp>
      <p:sp>
        <p:nvSpPr>
          <p:cNvPr id="28" name="Shape 20"/>
          <p:cNvSpPr/>
          <p:nvPr/>
        </p:nvSpPr>
        <p:spPr>
          <a:xfrm>
            <a:off x="9989820" y="2606040"/>
            <a:ext cx="1207008" cy="1371600"/>
          </a:xfrm>
          <a:prstGeom prst="roundRect">
            <a:avLst>
              <a:gd name="adj" fmla="val 9091"/>
            </a:avLst>
          </a:prstGeom>
          <a:solidFill>
            <a:srgbClr val="10273F"/>
          </a:solidFill>
          <a:ln/>
          <a:effectLst>
            <a:outerShdw sx="100000" sy="100000" kx="0" ky="0" algn="bl" rotWithShape="0" blurRad="76200" dist="25400" dir="5400000">
              <a:srgbClr val="16232E">
                <a:alpha val="15000"/>
              </a:srgbClr>
            </a:outerShdw>
          </a:effectLst>
        </p:spPr>
      </p:sp>
      <p:pic>
        <p:nvPicPr>
          <p:cNvPr id="29" name="Image 6" descr="icons/char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5580" y="2807208"/>
            <a:ext cx="475488" cy="4754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806940" y="33558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modular: prompts live in prompts.py, the chain in chains.py, caching in cache_manager.py, and safe parsing in utils.py.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40080" y="5394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3" name="Text 24"/>
          <p:cNvSpPr/>
          <p:nvPr/>
        </p:nvSpPr>
        <p:spPr>
          <a:xfrm>
            <a:off x="868680" y="53949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medical_ai_assistant/  </a:t>
            </a:r>
            <a:pPr indent="0" marL="0">
              <a:buNone/>
            </a:pPr>
            <a:r>
              <a:rPr lang="en-US" sz="1200" dirty="0">
                <a:solidFill>
                  <a:srgbClr val="44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• requirements.txt • .env.example • assets/  •  src/ (config, prompts, chains, cache_manager, utils, auth)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required concept, implemented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9933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6" name="Image 0" descr="icon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688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9110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ChatOpenAI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21488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gpt-4o-mini for both the structured assessment and the streamed narrative.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26791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1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61488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5968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Human / AI messages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61872" y="28346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message demo shows SystemMessage, HumanMessage and AIMessage working together.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86384" y="33649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6" name="Image 2" descr="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47288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32826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PromptTemplate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61872" y="3520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string template carrying all patient variables.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86384" y="40507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1" name="Image 3" descr="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33088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9684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ChatPromptTemplate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61872" y="42062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conversation combining the safety rules with patient data.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263640" y="18745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9944" y="19933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6" name="Image 4" descr="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075688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85432" y="19110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output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85432" y="21488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return one exact schema, parsed safely every time.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63640" y="25603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9944" y="26791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31" name="Image 5" descr="icons/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761488"/>
            <a:ext cx="173736" cy="1737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85432" y="25968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LLMChain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85432" y="28346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chain tying the ChatPromptTemplate to the LLM for assessment.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63640" y="32461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6409944" y="33649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36" name="Image 6" descr="icons/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447288"/>
            <a:ext cx="173736" cy="1737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85432" y="32826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885432" y="3520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.stream() yields narrative chunks into st.write_stream() for a live typing effect.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263640" y="3931920"/>
            <a:ext cx="52578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40" name="Shape 31"/>
          <p:cNvSpPr/>
          <p:nvPr/>
        </p:nvSpPr>
        <p:spPr>
          <a:xfrm>
            <a:off x="6409944" y="4050792"/>
            <a:ext cx="338328" cy="338328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41" name="Image 7" descr="icons/chec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133088"/>
            <a:ext cx="173736" cy="17373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85432" y="39684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6885432" y="42062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and SQLiteCache, switchable from the sidebar.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key — verified before you begin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visitor lands on an attractive split-screen login page before reaching the assessment tool.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126480" cy="4023360"/>
          </a:xfrm>
          <a:prstGeom prst="roundRect">
            <a:avLst>
              <a:gd name="adj" fmla="val 2273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3017520" cy="3383280"/>
          </a:xfrm>
          <a:prstGeom prst="roundRect">
            <a:avLst>
              <a:gd name="adj" fmla="val 1818"/>
            </a:avLst>
          </a:prstGeom>
          <a:solidFill>
            <a:srgbClr val="0D2035"/>
          </a:solidFill>
          <a:ln/>
        </p:spPr>
      </p:sp>
      <p:pic>
        <p:nvPicPr>
          <p:cNvPr id="7" name="Image 0" descr="icons/heartbe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AI-guided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companion.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97280" y="5349240"/>
            <a:ext cx="2468880" cy="0"/>
          </a:xfrm>
          <a:prstGeom prst="line">
            <a:avLst/>
          </a:prstGeom>
          <a:noFill/>
          <a:ln w="19050">
            <a:solidFill>
              <a:srgbClr val="2DD4C4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160520" y="2560320"/>
            <a:ext cx="2286000" cy="3200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4340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key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3400" y="365760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5FAF9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53128" y="36576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sk-••••••••••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43400" y="4069080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2DD4C4"/>
          </a:solidFill>
          <a:ln/>
        </p:spPr>
      </p:sp>
      <p:sp>
        <p:nvSpPr>
          <p:cNvPr id="17" name="Text 14"/>
          <p:cNvSpPr/>
          <p:nvPr/>
        </p:nvSpPr>
        <p:spPr>
          <a:xfrm>
            <a:off x="434340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continue →</a:t>
            </a:r>
            <a:endParaRPr lang="en-US" sz="900" dirty="0"/>
          </a:p>
        </p:txBody>
      </p:sp>
      <p:pic>
        <p:nvPicPr>
          <p:cNvPr id="18" name="Image 1" descr="icons/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572000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62856" y="45445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never stored on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178040" y="2148840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1" name="Image 2" descr="icons/ke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267712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18120" y="21305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Bring-your-own-key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818120" y="24048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key is baked into the deployment — safe to host publicly.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178040" y="3136392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5" name="Image 3" descr="icons/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3255264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118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Session-only storage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818120" y="3392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lives only in that browser's session state, never on disk.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178040" y="4123944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9" name="Image 4" descr="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242816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18120" y="41056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verification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818120" y="43799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no-cost models.list() call confirms the key works before granting access.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178040" y="5111496"/>
            <a:ext cx="502920" cy="50292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33" name="Image 5" descr="icons/clou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5230368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18120" y="5093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Public-ready by design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818120" y="53675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visitor pays for their own OpenAI usage — the app scales to many users.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Urgency-coded guidance the patient can act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monitoring advice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professional soon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medical attention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3252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F6B5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154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emergency care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tabs organise every result: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19" name="Image 0" descr="icons/comme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913632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41248" y="446227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Narrative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1248" y="498348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 plus a live-streamed explanation.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566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23" name="Shape 20"/>
          <p:cNvSpPr/>
          <p:nvPr/>
        </p:nvSpPr>
        <p:spPr>
          <a:xfrm>
            <a:off x="3611880" y="3794760"/>
            <a:ext cx="502920" cy="50292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24" name="Image 1" descr="icons/userinjure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913632"/>
            <a:ext cx="265176" cy="2651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84448" y="446227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Conditions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584448" y="498348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Educational-only possibilities with brief reasoning.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3566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28" name="Shape 24"/>
          <p:cNvSpPr/>
          <p:nvPr/>
        </p:nvSpPr>
        <p:spPr>
          <a:xfrm>
            <a:off x="6355080" y="3794760"/>
            <a:ext cx="502920" cy="50292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29" name="Image 2" descr="icons/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913632"/>
            <a:ext cx="265176" cy="26517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27648" y="446227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Questions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327648" y="498348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and what to ask a doctor.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869680" y="3566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5FAF9"/>
          </a:solidFill>
          <a:ln/>
        </p:spPr>
      </p:sp>
      <p:sp>
        <p:nvSpPr>
          <p:cNvPr id="33" name="Shape 28"/>
          <p:cNvSpPr/>
          <p:nvPr/>
        </p:nvSpPr>
        <p:spPr>
          <a:xfrm>
            <a:off x="9098280" y="3794760"/>
            <a:ext cx="502920" cy="50292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34" name="Image 3" descr="icons/warnin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913632"/>
            <a:ext cx="265176" cy="26517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70848" y="446227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Signs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9070848" y="498348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that mean seek immediate attention.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caching backends, switchable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set_llm_cache(...) registers a cache once; LangChain checks it automatically before every model call — identical submissions return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23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7" name="Image 0" descr="icon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70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786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InMemoryCache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342900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(in-process memory)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39959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" y="41970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5840" y="45628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4764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512978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" y="5330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running session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219456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232E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9" name="Image 1" descr="icons/serv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7004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25786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SQLiteCache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6583680" y="342900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58368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.db file on disk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83680" y="39959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583680" y="41970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 than RAM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83680" y="45628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583680" y="4764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583680" y="512978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583680" y="5330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sessions / restarts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 safety rules, built into the system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5" name="Image 0" descr="icons/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939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938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 confirmed diagnosis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53312" y="22677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ever offers educational, general possibilities — clearly framed as such.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9" name="Image 1" descr="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284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31729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Emergencies flagged clearly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53312" y="35021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symptoms trigger urgency_level = "EMERGENCY" with an explicit call to seek help now.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3" name="Image 2" descr="icons/comme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628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44074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defers to professionals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53312" y="47365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encourages consulting a qualified healthcare provider.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63640" y="196596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17" name="Image 3" descr="icons/clipboar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09397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76872" y="1938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Disclaimers on every screen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76872" y="22677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main area, and results dashboard all carry the medical disclaimer.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3640" y="320040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1" name="Image 4" descr="icons/filea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332841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76872" y="31729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output never crashes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976872" y="35021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 is wrapped in safe try/except with a friendly fallback message.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63640" y="4434840"/>
            <a:ext cx="548640" cy="54864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25" name="Image 5" descr="icons/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456285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76872" y="44074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are never persisted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76872" y="47365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live only in session memory — never written to disk or logged.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ship — three deployment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6" name="Image 0" descr="icons/clou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1752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Community Cloud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3849624"/>
            <a:ext cx="82296" cy="82296"/>
          </a:xfrm>
          <a:prstGeom prst="ellipse">
            <a:avLst/>
          </a:prstGeom>
          <a:solidFill>
            <a:srgbClr val="2DD4C4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37216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4416552"/>
            <a:ext cx="82296" cy="82296"/>
          </a:xfrm>
          <a:prstGeom prst="ellipse">
            <a:avLst/>
          </a:prstGeom>
          <a:solidFill>
            <a:srgbClr val="2DD4C4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428853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repo, set app.py as entrypoint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983480"/>
            <a:ext cx="82296" cy="82296"/>
          </a:xfrm>
          <a:prstGeom prst="ellipse">
            <a:avLst/>
          </a:prstGeom>
          <a:solidFill>
            <a:srgbClr val="2DD4C4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8554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secrets — no local key needed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0273F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9432" y="2194560"/>
            <a:ext cx="640080" cy="640080"/>
          </a:xfrm>
          <a:prstGeom prst="ellipse">
            <a:avLst/>
          </a:prstGeom>
          <a:solidFill>
            <a:srgbClr val="10273F"/>
          </a:solidFill>
          <a:ln/>
        </p:spPr>
      </p:sp>
      <p:pic>
        <p:nvPicPr>
          <p:cNvPr id="16" name="Image 1" descr="icons/dock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500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81144" y="301752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599432" y="3849624"/>
            <a:ext cx="82296" cy="82296"/>
          </a:xfrm>
          <a:prstGeom prst="ellipse">
            <a:avLst/>
          </a:prstGeom>
          <a:solidFill>
            <a:srgbClr val="10273F"/>
          </a:solidFill>
          <a:ln/>
        </p:spPr>
      </p:sp>
      <p:sp>
        <p:nvSpPr>
          <p:cNvPr id="19" name="Text 15"/>
          <p:cNvSpPr/>
          <p:nvPr/>
        </p:nvSpPr>
        <p:spPr>
          <a:xfrm>
            <a:off x="4800600" y="37216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python:3.11 base image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99432" y="4416552"/>
            <a:ext cx="82296" cy="82296"/>
          </a:xfrm>
          <a:prstGeom prst="ellipse">
            <a:avLst/>
          </a:prstGeom>
          <a:solidFill>
            <a:srgbClr val="10273F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428853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requirements + source, expose 8501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99432" y="4983480"/>
            <a:ext cx="82296" cy="82296"/>
          </a:xfrm>
          <a:prstGeom prst="ellipse">
            <a:avLst/>
          </a:prstGeom>
          <a:solidFill>
            <a:srgbClr val="10273F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48554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cloud VM or container platform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10144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5FAF9"/>
          </a:solidFill>
          <a:ln/>
        </p:spPr>
      </p:sp>
      <p:sp>
        <p:nvSpPr>
          <p:cNvPr id="25" name="Shape 21"/>
          <p:cNvSpPr/>
          <p:nvPr/>
        </p:nvSpPr>
        <p:spPr>
          <a:xfrm>
            <a:off x="8284464" y="2194560"/>
            <a:ext cx="640080" cy="640080"/>
          </a:xfrm>
          <a:prstGeom prst="ellipse">
            <a:avLst/>
          </a:prstGeom>
          <a:solidFill>
            <a:srgbClr val="1CA99A"/>
          </a:solidFill>
          <a:ln/>
        </p:spPr>
      </p:sp>
      <p:pic>
        <p:nvPicPr>
          <p:cNvPr id="26" name="Image 2" descr="icons/serv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35000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66176" y="301752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/ Railway / Fly.io</a:t>
            </a:r>
            <a:endParaRPr lang="en-US" sz="1550" dirty="0"/>
          </a:p>
        </p:txBody>
      </p:sp>
      <p:sp>
        <p:nvSpPr>
          <p:cNvPr id="28" name="Shape 23"/>
          <p:cNvSpPr/>
          <p:nvPr/>
        </p:nvSpPr>
        <p:spPr>
          <a:xfrm>
            <a:off x="8284464" y="3849624"/>
            <a:ext cx="82296" cy="82296"/>
          </a:xfrm>
          <a:prstGeom prst="ellipse">
            <a:avLst/>
          </a:prstGeom>
          <a:solidFill>
            <a:srgbClr val="1CA99A"/>
          </a:solidFill>
          <a:ln/>
        </p:spPr>
      </p:sp>
      <p:sp>
        <p:nvSpPr>
          <p:cNvPr id="29" name="Text 24"/>
          <p:cNvSpPr/>
          <p:nvPr/>
        </p:nvSpPr>
        <p:spPr>
          <a:xfrm>
            <a:off x="8485632" y="37216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Streamlit start command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284464" y="4416552"/>
            <a:ext cx="82296" cy="82296"/>
          </a:xfrm>
          <a:prstGeom prst="ellipse">
            <a:avLst/>
          </a:prstGeom>
          <a:solidFill>
            <a:srgbClr val="1CA99A"/>
          </a:solidFill>
          <a:ln/>
        </p:spPr>
      </p:sp>
      <p:sp>
        <p:nvSpPr>
          <p:cNvPr id="31" name="Text 26"/>
          <p:cNvSpPr/>
          <p:nvPr/>
        </p:nvSpPr>
        <p:spPr>
          <a:xfrm>
            <a:off x="8485632" y="428853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OPENAI_MODEL &amp; other env vars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284464" y="4983480"/>
            <a:ext cx="82296" cy="82296"/>
          </a:xfrm>
          <a:prstGeom prst="ellipse">
            <a:avLst/>
          </a:prstGeom>
          <a:solidFill>
            <a:srgbClr val="1CA99A"/>
          </a:solidFill>
          <a:ln/>
        </p:spPr>
      </p:sp>
      <p:sp>
        <p:nvSpPr>
          <p:cNvPr id="33" name="Text 28"/>
          <p:cNvSpPr/>
          <p:nvPr/>
        </p:nvSpPr>
        <p:spPr>
          <a:xfrm>
            <a:off x="8485632" y="48554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handles TLS, scaling &amp; restarts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457200" cy="45720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5120640"/>
            <a:ext cx="457200" cy="45720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6217920"/>
            <a:ext cx="457200" cy="457200"/>
          </a:xfrm>
          <a:prstGeom prst="plus">
            <a:avLst/>
          </a:prstGeom>
          <a:solidFill>
            <a:srgbClr val="10273F"/>
          </a:solidFill>
          <a:ln/>
        </p:spPr>
      </p:sp>
      <p:sp>
        <p:nvSpPr>
          <p:cNvPr id="5" name="Shape 3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2DD4C4"/>
          </a:solidFill>
          <a:ln/>
        </p:spPr>
      </p:sp>
      <p:pic>
        <p:nvPicPr>
          <p:cNvPr id="6" name="Image 0" descr="icons/heartbe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5910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0" y="3429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— structured, safety-first symptom guidance,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LangChain, OpenAI &amp; Streamlit.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899916" y="4572000"/>
            <a:ext cx="4389120" cy="502920"/>
          </a:xfrm>
          <a:prstGeom prst="roundRect">
            <a:avLst>
              <a:gd name="adj" fmla="val 50909"/>
            </a:avLst>
          </a:prstGeom>
          <a:solidFill>
            <a:srgbClr val="10273F"/>
          </a:solidFill>
          <a:ln w="12700">
            <a:solidFill>
              <a:srgbClr val="1C3552"/>
            </a:solidFill>
            <a:prstDash val="solid"/>
          </a:ln>
        </p:spPr>
      </p:sp>
      <p:pic>
        <p:nvPicPr>
          <p:cNvPr id="10" name="Image 1" descr="icons/githu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6" y="46908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4276" y="4572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github.com/your-org/medical_ai_assistant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only — not a medical device.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2026-08-29T07:43:18Z</dcterms:created>
  <dcterms:modified xsi:type="dcterms:W3CDTF">2026-08-29T07:43:18Z</dcterms:modified>
</cp:coreProperties>
</file>